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9" autoAdjust="0"/>
    <p:restoredTop sz="94660"/>
  </p:normalViewPr>
  <p:slideViewPr>
    <p:cSldViewPr snapToGrid="0">
      <p:cViewPr varScale="1">
        <p:scale>
          <a:sx n="46" d="100"/>
          <a:sy n="46" d="100"/>
        </p:scale>
        <p:origin x="4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FF24-9DF8-D7EC-3E1E-091FE0B56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56261-15E2-3022-8701-126612C96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F36B1-886D-E643-7C58-CC7097B6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58D6D-7098-1853-0466-7D3CA651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7B62D-20E8-D522-0E23-712A47CE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7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B5EF-C4BB-A881-6D3C-4C93EC4E5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6DA9-4865-BEED-3324-42E5C8874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3FBA2-D76A-17AE-A663-AC5E511A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401A3-AE40-E6B5-CD6F-3CC029DF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C8144-7AEB-30F1-FCA7-10F6A7FC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39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A41D-445D-35E4-DF33-815CCE2DA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A58C0-F1A3-E375-A48C-A1A0CE231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4EFF-6C01-18AF-E79C-EFDC1D51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90AD9-F2F8-93FC-84E1-CF0035F3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14FB-A68F-0267-2822-A1C11F6B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1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331F-1EE3-DBA7-2162-A3F9EA04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EE377-5D6A-644C-5991-80C4FD81E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D59C1-39DD-5C63-A411-DDA3BD88C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3F799-601C-EFD6-6ED9-D2BF6BB6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88B86-AFAB-609A-F889-263643821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80851-532C-9BA4-9CE6-073744D3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72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A24B-BDFA-A625-39AF-C7182F5B9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C0722-3865-A82E-0D10-D45B56DDB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D2E74-248B-E488-29CF-9CCB52AA0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4762F-0053-7027-AED8-747CB9DC4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5C207-39AD-95C1-C6A1-301279D8B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1AD10-19ED-B977-54E7-0056BB0E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FAF46-E9E6-E2B2-0509-0E9C5D2A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A8724-CA03-01E1-D351-34A2770E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21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EAD4-0AF7-F5D1-50B0-733EDBC1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B2271-D86F-EA8F-9AED-6812281F0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92117-F7AE-B175-0EF4-B680BFC4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26CA5-A1B6-1894-3B1D-F3DB4CE7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94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2A3955-92CB-C93A-DB47-D8358B172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C8742-7B53-A451-B74D-E3010EAE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8FF18-200F-EBD1-B131-3C629D44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5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3217-9643-A573-5E67-6B8F2C1D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8016-C645-4BC7-20EF-1097C014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0AF65-4382-B57D-151F-33D7ED18E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8D12B-0D1C-09C5-9BE3-0E266547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4632-70A5-D686-694B-6BC5CF73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3B191-0C17-BF4F-93F9-08112E9A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8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EED4-062D-2651-005E-1799C833D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CE4230-A27F-AB09-AA08-D3D022C05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8A9EA-3894-0D9E-252F-265135248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BA9D5-B877-622E-1D32-7C363C10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39296-AC42-1156-1FD0-E9B72395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1EADA-E8AE-E9C7-4C8F-B5A52285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9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E3AB2-AD48-CF76-E1A9-ADDB2A32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02EB7-6F97-6CEA-35AA-83F95E460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7D97F-8CEE-A7C7-BBD8-8C774B6C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26671-3C43-6FA6-CDD8-6B37BBA3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594FC-9314-C7CE-3406-651960EF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5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A9C70-7AB6-3A54-619D-EEF87719F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43BFC-EEB6-E30A-A7D8-BC9E422D1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2B35-8D2E-D641-0573-09FDDBB8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CC3F7-E6AA-2092-5934-81D99049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7C67E-DE30-8AD8-F130-4BD504F2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594CD-CEE4-7C88-59C2-AC8106BD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427A5-D3B1-7512-CC2C-085871A40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1822D-1EE9-73E0-D377-8BDEABC82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5BD5A-8555-660F-9929-D474174E5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4CA67-1D29-C6AE-34E4-3BA72D5E6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6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5C989-02E4-CD95-B7C2-5C8F3D5B5A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93" r="18758"/>
          <a:stretch>
            <a:fillRect/>
          </a:stretch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37693A-9F2F-B84E-B672-CD50AC93B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460" y="2226736"/>
            <a:ext cx="3161940" cy="2597928"/>
          </a:xfrm>
        </p:spPr>
        <p:txBody>
          <a:bodyPr>
            <a:noAutofit/>
          </a:bodyPr>
          <a:lstStyle/>
          <a:p>
            <a:r>
              <a:rPr lang="en-US" sz="4400" dirty="0"/>
              <a:t>White House Visitor Log Analysis</a:t>
            </a:r>
            <a:br>
              <a:rPr lang="en-US" sz="4400" dirty="0"/>
            </a:b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5908D-A294-D027-50D9-F038EFA06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854" y="4498587"/>
            <a:ext cx="3643152" cy="554676"/>
          </a:xfrm>
        </p:spPr>
        <p:txBody>
          <a:bodyPr>
            <a:normAutofit/>
          </a:bodyPr>
          <a:lstStyle/>
          <a:p>
            <a:r>
              <a:rPr lang="en-US" sz="1800" i="1" dirty="0"/>
              <a:t>October–December 2022 vs. 2023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82A3B7C-BBD7-E0F3-393A-837EF30C537D}"/>
              </a:ext>
            </a:extLst>
          </p:cNvPr>
          <p:cNvSpPr txBox="1">
            <a:spLocks/>
          </p:cNvSpPr>
          <p:nvPr/>
        </p:nvSpPr>
        <p:spPr>
          <a:xfrm>
            <a:off x="199505" y="5234833"/>
            <a:ext cx="3768500" cy="14437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Teresa Ferrill</a:t>
            </a:r>
          </a:p>
          <a:p>
            <a:pPr algn="l"/>
            <a:r>
              <a:rPr lang="en-US" sz="1600" dirty="0"/>
              <a:t>Bellevue University, DSC 640 – Data Presentation and Visualization</a:t>
            </a:r>
          </a:p>
          <a:p>
            <a:pPr algn="l"/>
            <a:r>
              <a:rPr lang="en-US" sz="1600" dirty="0"/>
              <a:t>Assignment – Weeks 3 &amp; 4</a:t>
            </a:r>
          </a:p>
          <a:p>
            <a:pPr algn="l"/>
            <a:r>
              <a:rPr lang="en-US" sz="1600" dirty="0"/>
              <a:t>April 12, 2026</a:t>
            </a:r>
          </a:p>
          <a:p>
            <a:pPr algn="l"/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86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500759-6501-5255-9F97-D9D29B919B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477FA3-1134-E599-D6D8-467D84FB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Purpose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B0AE5-E2CF-7642-1FF2-F7B92FD76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Identify visit patterns</a:t>
            </a:r>
          </a:p>
          <a:p>
            <a:r>
              <a:rPr lang="en-US" sz="4000" dirty="0"/>
              <a:t>Compare across years</a:t>
            </a:r>
          </a:p>
          <a:p>
            <a:r>
              <a:rPr lang="en-US" sz="4000" dirty="0"/>
              <a:t>Support operational decision-making</a:t>
            </a:r>
          </a:p>
          <a:p>
            <a:endParaRPr lang="en-US" sz="4000" dirty="0"/>
          </a:p>
          <a:p>
            <a:r>
              <a:rPr lang="en-US" sz="4000" b="1" dirty="0"/>
              <a:t>Call to Action: Improve Planning Using Data</a:t>
            </a:r>
          </a:p>
        </p:txBody>
      </p:sp>
    </p:spTree>
    <p:extLst>
      <p:ext uri="{BB962C8B-B14F-4D97-AF65-F5344CB8AC3E}">
        <p14:creationId xmlns:p14="http://schemas.microsoft.com/office/powerpoint/2010/main" val="1573089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25E8-CA39-AF8D-26D8-C76D571F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BECF47-C51B-AE42-E768-9FE2167072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CE80C8-45FE-0309-CE16-EBF07073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Audience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D1276-2916-9034-30B5-A17BD15AC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White house operations leadership</a:t>
            </a:r>
          </a:p>
          <a:p>
            <a:r>
              <a:rPr lang="en-US" sz="4000" dirty="0"/>
              <a:t>Familiar with data context</a:t>
            </a:r>
          </a:p>
          <a:p>
            <a:r>
              <a:rPr lang="en-US" sz="4000" dirty="0"/>
              <a:t>Focused on decision, not technical detail</a:t>
            </a:r>
          </a:p>
        </p:txBody>
      </p:sp>
    </p:spTree>
    <p:extLst>
      <p:ext uri="{BB962C8B-B14F-4D97-AF65-F5344CB8AC3E}">
        <p14:creationId xmlns:p14="http://schemas.microsoft.com/office/powerpoint/2010/main" val="1245996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B4907-D51A-B49F-7A35-CB6ADCA7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6299E4-4087-A54B-DE95-F968EB5BCA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52C020-CDC0-A401-9FEE-0344B863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Medium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F875F-7DBC-0517-3D9B-5A3E826CF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Jupyter</a:t>
            </a:r>
            <a:r>
              <a:rPr lang="en-US" sz="4000" dirty="0"/>
              <a:t> notebook for data analysis and visualization</a:t>
            </a:r>
          </a:p>
          <a:p>
            <a:r>
              <a:rPr lang="en-US" sz="4000" dirty="0"/>
              <a:t>PowerPoint presentation for executive-level communication</a:t>
            </a:r>
          </a:p>
          <a:p>
            <a:r>
              <a:rPr lang="en-US" sz="4000" dirty="0"/>
              <a:t>Separates technical detail from key insights</a:t>
            </a:r>
          </a:p>
        </p:txBody>
      </p:sp>
    </p:spTree>
    <p:extLst>
      <p:ext uri="{BB962C8B-B14F-4D97-AF65-F5344CB8AC3E}">
        <p14:creationId xmlns:p14="http://schemas.microsoft.com/office/powerpoint/2010/main" val="29868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F6D5C-8C17-457E-526C-010BC7FF2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898F0-126B-22E2-4F88-07D4957703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EAE0BB-C170-4781-F548-C636EF51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Design Considerations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EA1BA-7D33-3ECE-E687-32D8C17DD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4000" dirty="0"/>
              <a:t>Clear and consistent formatting across visuals</a:t>
            </a:r>
          </a:p>
          <a:p>
            <a:r>
              <a:rPr lang="en-US" sz="4000" dirty="0"/>
              <a:t>Minimal color to highlight key differences</a:t>
            </a:r>
          </a:p>
          <a:p>
            <a:r>
              <a:rPr lang="en-US" sz="4000" dirty="0"/>
              <a:t>Logical flow from trends to detailed insights</a:t>
            </a:r>
          </a:p>
          <a:p>
            <a:r>
              <a:rPr lang="en-US" sz="4000" dirty="0"/>
              <a:t>Gestalt principles used to group related visuals</a:t>
            </a:r>
          </a:p>
          <a:p>
            <a:r>
              <a:rPr lang="en-US" sz="4000" dirty="0"/>
              <a:t>Focus on readability and quick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72783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A6126-A8D9-5F86-B8EE-31E2F857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4EF311-5814-2630-84FC-FFFCA24EF5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32F121-6FD4-0D36-8536-38D1E229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Key Finding 1 – Volume Increased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4906A8-DA4F-9999-F4A2-89117DA44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000" y="1592673"/>
            <a:ext cx="5487740" cy="265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DB032A-7F39-DC12-61F6-E70C6DE7C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918291"/>
            <a:ext cx="5486400" cy="32201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3D6BC9-F3AF-60C0-C157-A2EDB7C2CE42}"/>
              </a:ext>
            </a:extLst>
          </p:cNvPr>
          <p:cNvSpPr txBox="1"/>
          <p:nvPr/>
        </p:nvSpPr>
        <p:spPr>
          <a:xfrm>
            <a:off x="381000" y="4938094"/>
            <a:ext cx="5487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Higher visit volume in 2023 across holiday season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Increase is consistent, not isolated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70B07-B5E2-FD6E-8AC6-18FCB4B8EDE4}"/>
              </a:ext>
            </a:extLst>
          </p:cNvPr>
          <p:cNvSpPr txBox="1"/>
          <p:nvPr/>
        </p:nvSpPr>
        <p:spPr>
          <a:xfrm>
            <a:off x="9766069" y="6283112"/>
            <a:ext cx="204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(Han et al., 2012)</a:t>
            </a:r>
          </a:p>
        </p:txBody>
      </p:sp>
    </p:spTree>
    <p:extLst>
      <p:ext uri="{BB962C8B-B14F-4D97-AF65-F5344CB8AC3E}">
        <p14:creationId xmlns:p14="http://schemas.microsoft.com/office/powerpoint/2010/main" val="264781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D7BC4-DF00-43F2-B57C-A701307C8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281685-94EB-60D6-F13C-ED68969C7C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287471-F9B7-C8A1-22DF-5D1CECD95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0874" cy="1325563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Key Finding 2 – Activity is Concentrated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3EACFC-599A-4308-06D4-1A04EF119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926" y="1592673"/>
            <a:ext cx="5487740" cy="265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582B9B-8558-8015-4034-5ECBE1DFC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2674" y="2949037"/>
            <a:ext cx="5486400" cy="31877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12623B-C31A-B927-4A81-CBB8EC680AFC}"/>
              </a:ext>
            </a:extLst>
          </p:cNvPr>
          <p:cNvSpPr txBox="1"/>
          <p:nvPr/>
        </p:nvSpPr>
        <p:spPr>
          <a:xfrm>
            <a:off x="269365" y="4735692"/>
            <a:ext cx="59730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Small number of categories drive most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Not evenly distributed across all groups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6645D-8A71-DD58-C4B0-46000A4B0674}"/>
              </a:ext>
            </a:extLst>
          </p:cNvPr>
          <p:cNvSpPr txBox="1"/>
          <p:nvPr/>
        </p:nvSpPr>
        <p:spPr>
          <a:xfrm>
            <a:off x="9766069" y="6283112"/>
            <a:ext cx="204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(Han et al., 2012)</a:t>
            </a:r>
          </a:p>
        </p:txBody>
      </p:sp>
    </p:spTree>
    <p:extLst>
      <p:ext uri="{BB962C8B-B14F-4D97-AF65-F5344CB8AC3E}">
        <p14:creationId xmlns:p14="http://schemas.microsoft.com/office/powerpoint/2010/main" val="344337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A868-213C-4B4E-C39C-749573C2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0A9E1E-72BE-39E1-4D19-B4AC5000AA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C9F11F-E931-243A-7D2E-348AD72D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Key Finding 3 – Timing is Predictable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40B6752-112C-2D08-0E9E-E88D9F5FF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926" y="1592673"/>
            <a:ext cx="5487740" cy="265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236B28-D729-EE9A-F908-63889C20B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9920" y="2918291"/>
            <a:ext cx="5231907" cy="32492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D53D42-526A-E1E9-8282-940C8824697F}"/>
              </a:ext>
            </a:extLst>
          </p:cNvPr>
          <p:cNvSpPr txBox="1"/>
          <p:nvPr/>
        </p:nvSpPr>
        <p:spPr>
          <a:xfrm>
            <a:off x="352926" y="4963886"/>
            <a:ext cx="5973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Activity concentrated in late morning-afternoon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Consistent across holiday months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6B291-4C1F-B638-BA76-1698BE25390C}"/>
              </a:ext>
            </a:extLst>
          </p:cNvPr>
          <p:cNvSpPr txBox="1"/>
          <p:nvPr/>
        </p:nvSpPr>
        <p:spPr>
          <a:xfrm>
            <a:off x="9509761" y="6283112"/>
            <a:ext cx="2301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(James et al., 2021)</a:t>
            </a:r>
          </a:p>
        </p:txBody>
      </p:sp>
    </p:spTree>
    <p:extLst>
      <p:ext uri="{BB962C8B-B14F-4D97-AF65-F5344CB8AC3E}">
        <p14:creationId xmlns:p14="http://schemas.microsoft.com/office/powerpoint/2010/main" val="213162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EBB08-EA62-B1DE-72E4-8BC93910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BDDC8B-982E-C90F-6C60-0DD27DD8E6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A2027A-6BA3-E600-36E3-7173B441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Key Finding 4 – Weekly Pattern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CAEAF1A-D91D-3CE9-7E57-2EAAC6B08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0363" y="1592672"/>
            <a:ext cx="7611275" cy="3677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4E3B99-1063-61D1-281F-DF22674A2FBA}"/>
              </a:ext>
            </a:extLst>
          </p:cNvPr>
          <p:cNvSpPr txBox="1"/>
          <p:nvPr/>
        </p:nvSpPr>
        <p:spPr>
          <a:xfrm>
            <a:off x="2290363" y="5549987"/>
            <a:ext cx="916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Weekday visits dominate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Weekend activity is minimal</a:t>
            </a:r>
          </a:p>
        </p:txBody>
      </p:sp>
    </p:spTree>
    <p:extLst>
      <p:ext uri="{BB962C8B-B14F-4D97-AF65-F5344CB8AC3E}">
        <p14:creationId xmlns:p14="http://schemas.microsoft.com/office/powerpoint/2010/main" val="193588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D0C01-F4F1-8737-CC63-A33B3161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EEA447-F8F1-8A7C-DE1D-5FC7A3FB37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FB5EB4-F6DE-9A8D-BB55-136B57AE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Supporting Trend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3A1ECF-3831-2474-567D-420ED02D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0363" y="1592672"/>
            <a:ext cx="7611275" cy="3677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D04012-AC85-4DD7-93C9-0A4352B83273}"/>
              </a:ext>
            </a:extLst>
          </p:cNvPr>
          <p:cNvSpPr txBox="1"/>
          <p:nvPr/>
        </p:nvSpPr>
        <p:spPr>
          <a:xfrm>
            <a:off x="2290363" y="5549987"/>
            <a:ext cx="916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Clear stepwise increase from 2022 to 2023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Reinforces upward trend</a:t>
            </a:r>
          </a:p>
        </p:txBody>
      </p:sp>
    </p:spTree>
    <p:extLst>
      <p:ext uri="{BB962C8B-B14F-4D97-AF65-F5344CB8AC3E}">
        <p14:creationId xmlns:p14="http://schemas.microsoft.com/office/powerpoint/2010/main" val="3013412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523C7-D916-22D8-51AB-267E5463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A081D1-3DC9-8ECF-B63D-5FCFDB395F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0A4A6E-EED8-4785-EA4C-EC04AB794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Recommendations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175B2D-0981-3B2A-8392-CFEEDCCBC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Align staffing with peak hours (late morning – afternoon)</a:t>
            </a:r>
          </a:p>
          <a:p>
            <a:r>
              <a:rPr lang="en-US" sz="4000" dirty="0"/>
              <a:t>Focus resources on high-demand locations</a:t>
            </a:r>
          </a:p>
          <a:p>
            <a:r>
              <a:rPr lang="en-US" sz="4000" dirty="0"/>
              <a:t>Use historical data to anticipate demand</a:t>
            </a:r>
          </a:p>
          <a:p>
            <a:r>
              <a:rPr lang="en-US" sz="4000" dirty="0"/>
              <a:t>Plan proactively instead of reacting to volume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410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2F332-5707-F42C-FED2-844E4256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EE410D-641B-6415-7CEF-B03921235D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CC2F84-3FFE-9DD8-865E-F8549F6E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Conclusion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D67DCB-0F65-00DD-BD64-AB06D9C8D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Visit patterns are consistent and predictable</a:t>
            </a:r>
          </a:p>
          <a:p>
            <a:r>
              <a:rPr lang="en-US" sz="4000" dirty="0"/>
              <a:t>Demand increased in 2023 across holiday months</a:t>
            </a:r>
          </a:p>
          <a:p>
            <a:r>
              <a:rPr lang="en-US" sz="4000" dirty="0"/>
              <a:t>Activity is concentrated and time-based</a:t>
            </a:r>
          </a:p>
          <a:p>
            <a:r>
              <a:rPr lang="en-US" sz="4000" dirty="0"/>
              <a:t>Data enables proactive operational planning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C5C96-3D0E-AA87-8E1B-3B16EF7ED82A}"/>
              </a:ext>
            </a:extLst>
          </p:cNvPr>
          <p:cNvSpPr txBox="1"/>
          <p:nvPr/>
        </p:nvSpPr>
        <p:spPr>
          <a:xfrm>
            <a:off x="6999316" y="6283112"/>
            <a:ext cx="4811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dirty="0"/>
              <a:t>(James et al., 2021; Cairo, 2016; </a:t>
            </a:r>
            <a:r>
              <a:rPr lang="fr-FR" dirty="0" err="1"/>
              <a:t>Knaflic</a:t>
            </a:r>
            <a:r>
              <a:rPr lang="fr-FR" dirty="0"/>
              <a:t>, 2015)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46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9E81B-EC6E-0F58-EC6D-C9F9F1DE6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8F2660-2AF2-F2E7-02AB-AF643FD4AD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75CEC9-5821-D98B-815B-E84EFB6B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References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3B0A38-0558-E617-7DAE-41E379032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Cairo, A. (2016). The truthful art: Data, charts, and maps for communication. New Riders.</a:t>
            </a:r>
          </a:p>
          <a:p>
            <a:r>
              <a:rPr lang="en-US" dirty="0"/>
              <a:t>Han, J., Kamber, M., &amp; Pei, J. (2012). Data mining: Concepts and techniques (3rd ed.). Morgan Kaufmann.</a:t>
            </a:r>
          </a:p>
          <a:p>
            <a:r>
              <a:rPr lang="en-US" dirty="0"/>
              <a:t>James, G., Witten, D., Hastie, T., &amp; </a:t>
            </a:r>
            <a:r>
              <a:rPr lang="en-US" dirty="0" err="1"/>
              <a:t>Tibshirani</a:t>
            </a:r>
            <a:r>
              <a:rPr lang="en-US" dirty="0"/>
              <a:t>, R. (2021). An introduction to statistical learning: With applications in R (2nd ed.). Springer.</a:t>
            </a:r>
          </a:p>
          <a:p>
            <a:r>
              <a:rPr lang="en-US" dirty="0" err="1"/>
              <a:t>Knaflic</a:t>
            </a:r>
            <a:r>
              <a:rPr lang="en-US" dirty="0"/>
              <a:t>, C. N. (2015). Storytelling with data: A data visualization guide for business professionals. Wiley.</a:t>
            </a:r>
          </a:p>
        </p:txBody>
      </p:sp>
    </p:spTree>
    <p:extLst>
      <p:ext uri="{BB962C8B-B14F-4D97-AF65-F5344CB8AC3E}">
        <p14:creationId xmlns:p14="http://schemas.microsoft.com/office/powerpoint/2010/main" val="3560779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405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White House Visitor Log Analysis </vt:lpstr>
      <vt:lpstr>Purpose</vt:lpstr>
      <vt:lpstr>Audience</vt:lpstr>
      <vt:lpstr>Medium</vt:lpstr>
      <vt:lpstr>Design Considerations</vt:lpstr>
      <vt:lpstr>Key Finding 1 – Volume Increased</vt:lpstr>
      <vt:lpstr>Key Finding 2 – Activity is Concentrated</vt:lpstr>
      <vt:lpstr>Key Finding 3 – Timing is Predictable</vt:lpstr>
      <vt:lpstr>Key Finding 4 – Weekly Pattern</vt:lpstr>
      <vt:lpstr>Supporting Trend</vt:lpstr>
      <vt:lpstr>Recommendations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Ferrill</dc:creator>
  <cp:lastModifiedBy>Teresa Ferrill</cp:lastModifiedBy>
  <cp:revision>10</cp:revision>
  <dcterms:created xsi:type="dcterms:W3CDTF">2026-04-06T23:36:24Z</dcterms:created>
  <dcterms:modified xsi:type="dcterms:W3CDTF">2026-09-13T09:54:42Z</dcterms:modified>
</cp:coreProperties>
</file>